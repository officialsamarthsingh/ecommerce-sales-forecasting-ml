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91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R² by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chemeClr val="accent1">
                <a:lumMod val="50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41D-4E90-8A37-F0272EE09690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41D-4E90-8A37-F0272EE09690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>
                  <a:lumMod val="75000"/>
                </a:scheme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41D-4E90-8A37-F0272EE0969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4446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Ridge</c:v>
                </c:pt>
                <c:pt idx="2">
                  <c:v>Lasso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0.68400000000000005</c:v>
                </c:pt>
                <c:pt idx="1">
                  <c:v>0.33800000000000002</c:v>
                </c:pt>
                <c:pt idx="2">
                  <c:v>0.68400000000000005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41D-4E90-8A37-F0272EE0969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9933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about Ridge's weak R²: it's likely because the 'years' feature wasn't scaled while lag/rolling features were — Ridge penalizes coefficient magnitude, so inconsistent scaling distorts it. Linear and Lasso aren't affected the same way. If asked about test set size: only 9 months in the test set, so results carry meaningful variance — frame as a known limitation, not a flaw.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06ABA-39F8-89EF-8D93-77135B01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95881-2672-F4BF-1700-B262E95F59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2379B9-9EAF-E772-A94A-FBAFC8BDB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2013E-D426-E277-AC62-D9C821D62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070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fficialSamarthsingh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amarthsinghportfolio.netlify.app/" TargetMode="External"/><Relationship Id="rId4" Type="http://schemas.openxmlformats.org/officeDocument/2006/relationships/hyperlink" Target="https://www.linkedin.com/in/samarth-singh-0623712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0160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endParaRPr lang="en-US" sz="3400" dirty="0"/>
          </a:p>
          <a:p>
            <a:pPr marL="0" indent="0" algn="ctr">
              <a:buNone/>
            </a:pPr>
            <a:r>
              <a:rPr lang="en-US" sz="3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82400" y="226953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monthly revenue with time-series regression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320400" y="346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Samarth Singh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400" y="3828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8BF65F9-E7B8-6FE9-DB24-C09382B034E2}"/>
              </a:ext>
            </a:extLst>
          </p:cNvPr>
          <p:cNvSpPr/>
          <p:nvPr/>
        </p:nvSpPr>
        <p:spPr>
          <a:xfrm>
            <a:off x="3600" y="-1260"/>
            <a:ext cx="993600" cy="871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453EF9-1CD0-B0B4-F945-7618BF3CD176}"/>
              </a:ext>
            </a:extLst>
          </p:cNvPr>
          <p:cNvSpPr/>
          <p:nvPr/>
        </p:nvSpPr>
        <p:spPr>
          <a:xfrm>
            <a:off x="8150400" y="5400"/>
            <a:ext cx="993600" cy="871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58BFDD9-E733-BCB8-91D0-48616752DB1D}"/>
              </a:ext>
            </a:extLst>
          </p:cNvPr>
          <p:cNvSpPr/>
          <p:nvPr/>
        </p:nvSpPr>
        <p:spPr>
          <a:xfrm>
            <a:off x="205200" y="175860"/>
            <a:ext cx="993600" cy="871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B7F7522-CEC6-E139-FB24-A0CA44A8C78B}"/>
              </a:ext>
            </a:extLst>
          </p:cNvPr>
          <p:cNvSpPr/>
          <p:nvPr/>
        </p:nvSpPr>
        <p:spPr>
          <a:xfrm>
            <a:off x="7948800" y="175860"/>
            <a:ext cx="993600" cy="871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D08C2F-45E8-F036-7E79-43A3ADDA17E9}"/>
              </a:ext>
            </a:extLst>
          </p:cNvPr>
          <p:cNvCxnSpPr>
            <a:cxnSpLocks/>
          </p:cNvCxnSpPr>
          <p:nvPr/>
        </p:nvCxnSpPr>
        <p:spPr>
          <a:xfrm>
            <a:off x="0" y="4412592"/>
            <a:ext cx="914400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Footer Placeholder 7">
            <a:extLst>
              <a:ext uri="{FF2B5EF4-FFF2-40B4-BE49-F238E27FC236}">
                <a16:creationId xmlns:a16="http://schemas.microsoft.com/office/drawing/2014/main" id="{DFD32609-908E-A28F-D4B5-42E22CF54508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The Problem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businesses need a read on next month's revenue to plan inventory, staffing, and budgets. Without it, decisions become reactive instead of proactive.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8308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F1F1F1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(Without forecasting)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3383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decisions based on guesswork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mismatches — overstock or stockouts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set without a data-backed baseline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783080"/>
            <a:ext cx="3840480" cy="2743200"/>
          </a:xfrm>
          <a:prstGeom prst="roundRect">
            <a:avLst>
              <a:gd name="adj" fmla="val 2667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7492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(With forecasting)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4920" y="2468880"/>
            <a:ext cx="338328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planning using historical patterns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aligned to seasonal demand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feed directly into budget planning</a:t>
            </a:r>
            <a:endParaRPr lang="en-US" sz="130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012BC2-2E20-5B12-B6E8-5B9E772367A1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Footer Placeholder 7">
            <a:extLst>
              <a:ext uri="{FF2B5EF4-FFF2-40B4-BE49-F238E27FC236}">
                <a16:creationId xmlns:a16="http://schemas.microsoft.com/office/drawing/2014/main" id="{18FFCCB8-E54D-4C19-1DDD-414160004622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9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Superstore e-commerce transaction records, 2014–2017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74520" cy="123444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6276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9,994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b="1" dirty="0"/>
          </a:p>
        </p:txBody>
      </p:sp>
      <p:sp>
        <p:nvSpPr>
          <p:cNvPr id="7" name="Shape 5"/>
          <p:cNvSpPr/>
          <p:nvPr/>
        </p:nvSpPr>
        <p:spPr>
          <a:xfrm>
            <a:off x="2514600" y="1463040"/>
            <a:ext cx="1874520" cy="123444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6276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→ 11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260604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Columns after cleaning</a:t>
            </a:r>
            <a:endParaRPr lang="en-US" sz="1100" b="1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1783080" cy="123444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16276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years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2014 – 2017 span</a:t>
            </a:r>
            <a:endParaRPr lang="en-US" sz="1100" b="1" dirty="0"/>
          </a:p>
        </p:txBody>
      </p:sp>
      <p:sp>
        <p:nvSpPr>
          <p:cNvPr id="13" name="Shape 11"/>
          <p:cNvSpPr/>
          <p:nvPr/>
        </p:nvSpPr>
        <p:spPr>
          <a:xfrm>
            <a:off x="6629400" y="1463040"/>
            <a:ext cx="1874520" cy="1234440"/>
          </a:xfrm>
          <a:prstGeom prst="roundRect">
            <a:avLst>
              <a:gd name="adj" fmla="val 5333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1627632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720840" y="22402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Duplicate &amp; Null records</a:t>
            </a:r>
            <a:endParaRPr lang="en-US" sz="1100" b="1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1131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— 5,191 orders (52%)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— 3,020 orders (30%)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Office — 1,783 orders (18%)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300" dirty="0">
                <a:solidFill>
                  <a:srgbClr val="444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non-predictive identifiers: Row ID, Customer ID, Postal Code, Ship Date, Ship Mode, and others</a:t>
            </a:r>
            <a:endParaRPr lang="en-US" sz="13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D6E9E6-9C0C-4214-75EC-9281220867C5}"/>
              </a:ext>
            </a:extLst>
          </p:cNvPr>
          <p:cNvCxnSpPr>
            <a:cxnSpLocks/>
          </p:cNvCxnSpPr>
          <p:nvPr/>
        </p:nvCxnSpPr>
        <p:spPr>
          <a:xfrm flipV="1">
            <a:off x="0" y="8634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7">
            <a:extLst>
              <a:ext uri="{FF2B5EF4-FFF2-40B4-BE49-F238E27FC236}">
                <a16:creationId xmlns:a16="http://schemas.microsoft.com/office/drawing/2014/main" id="{E760F3B5-3A4F-59B1-5B00-6C8BE2461249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7800" y="37144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growing year over year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 0" descr="Revenue and profit by year, 2014-20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800" y="1052640"/>
            <a:ext cx="6692400" cy="3011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5073" y="4122269"/>
            <a:ext cx="7506000" cy="56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profit both climbed every year from 2014 to 2017, with the steepest jump between 2016 and 2017 — the underlying growth trend the model needs to pick up on.</a:t>
            </a:r>
            <a:endParaRPr lang="en-US" sz="14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E7A5AC-7454-A9F3-2F21-0DB05165D6DD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9F7B66-0703-57DC-3F4E-23D6C0C7A714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peak sharply at year-end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 0" descr="Revenue and profit by month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710" y="1184328"/>
            <a:ext cx="7358180" cy="311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280451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November, December, and September consistently outperform every other month — a clear, repeatable seasonal pattern the forecast needs to capture.</a:t>
            </a:r>
            <a:endParaRPr lang="en-US" sz="1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31C372F-F7CA-6074-16B1-8889241260E0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3C2EF2A3-C5DB-45C7-416A-D58D00DA1420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the model memory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 0" descr="Monthly aggregated sales across da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4114800" cy="20804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199" y="3269133"/>
            <a:ext cx="4336473" cy="12451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daily transactions into 48 monthly totals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Added lag features: sales from 1, 2, 3 months ago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Added 3-month and 6-month rolling averages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Dropped early NaN rows — 42 usable months remain</a:t>
            </a:r>
            <a:endParaRPr lang="en-US" sz="1400" dirty="0"/>
          </a:p>
        </p:txBody>
      </p:sp>
      <p:pic>
        <p:nvPicPr>
          <p:cNvPr id="5" name="Image 1" descr="Correlation heatmap of engineered featur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1680" y="1051560"/>
            <a:ext cx="3840480" cy="34627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46320" y="4587440"/>
            <a:ext cx="415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Rolling averages and lag features correlate strongly with sales </a:t>
            </a:r>
          </a:p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:- exactly what we want from engineered features.</a:t>
            </a:r>
            <a:endParaRPr lang="en-US" sz="12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18B1556-4E88-7EE9-DA46-2C672D951490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CC61850F-D69B-ACD7-8540-E425F89B4C5C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1306080"/>
            <a:ext cx="3931920" cy="2617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Split chronologically, not randomly — order matters in time series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Scaled lag and rolling features with StandardScaler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encoded month to let the model learn seasonality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Trained three models to compare: Linear, Ridge, Lasso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0" y="1463040"/>
            <a:ext cx="3089366" cy="50292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</p:spPr>
      </p:sp>
      <p:sp>
        <p:nvSpPr>
          <p:cNvPr id="5" name="Shape 3"/>
          <p:cNvSpPr/>
          <p:nvPr/>
        </p:nvSpPr>
        <p:spPr>
          <a:xfrm>
            <a:off x="7844246" y="1463040"/>
            <a:ext cx="842554" cy="5029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4754880" y="2057400"/>
            <a:ext cx="308936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33 months</a:t>
            </a:r>
            <a:endParaRPr lang="en-US" sz="1100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844246" y="2057400"/>
            <a:ext cx="84255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9 months</a:t>
            </a:r>
            <a:endParaRPr lang="en-US" sz="11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0" y="11704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2014</a:t>
            </a:r>
            <a:endParaRPr lang="en-US" sz="1000" b="1" dirty="0"/>
          </a:p>
        </p:txBody>
      </p:sp>
      <p:sp>
        <p:nvSpPr>
          <p:cNvPr id="9" name="Text 7"/>
          <p:cNvSpPr/>
          <p:nvPr/>
        </p:nvSpPr>
        <p:spPr>
          <a:xfrm>
            <a:off x="7341326" y="11704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2017</a:t>
            </a:r>
            <a:endParaRPr lang="en-US" sz="1000" b="1" dirty="0"/>
          </a:p>
        </p:txBody>
      </p:sp>
      <p:sp>
        <p:nvSpPr>
          <p:cNvPr id="10" name="Text 8"/>
          <p:cNvSpPr/>
          <p:nvPr/>
        </p:nvSpPr>
        <p:spPr>
          <a:xfrm>
            <a:off x="7772400" y="117043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2017</a:t>
            </a:r>
            <a:endParaRPr lang="en-US" sz="1000" b="1" dirty="0"/>
          </a:p>
        </p:txBody>
      </p:sp>
      <p:sp>
        <p:nvSpPr>
          <p:cNvPr id="11" name="Text 9"/>
          <p:cNvSpPr/>
          <p:nvPr/>
        </p:nvSpPr>
        <p:spPr>
          <a:xfrm>
            <a:off x="4754880" y="2468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42 usable months, split 80 / 20 along the timeline</a:t>
            </a:r>
            <a:endParaRPr lang="en-US" sz="12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6514FFA-B37E-5568-56C9-B60789477797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7CABB86E-F95A-30AE-16E1-9A1C7C4A27C3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7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Linear-Regression wins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809737"/>
              </p:ext>
            </p:extLst>
          </p:nvPr>
        </p:nvGraphicFramePr>
        <p:xfrm>
          <a:off x="457200" y="1487340"/>
          <a:ext cx="4626001" cy="2168820"/>
        </p:xfrm>
        <a:graphic>
          <a:graphicData uri="http://schemas.openxmlformats.org/drawingml/2006/table">
            <a:tbl>
              <a:tblPr/>
              <a:tblGrid>
                <a:gridCol w="145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6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8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81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2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12,054.68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14,026.52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15,820.27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20,300.11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21.28%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20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12,054.03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14,029.06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446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428108685"/>
              </p:ext>
            </p:extLst>
          </p:nvPr>
        </p:nvGraphicFramePr>
        <p:xfrm>
          <a:off x="5205600" y="1078380"/>
          <a:ext cx="3722400" cy="2798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1"/>
          <p:cNvSpPr/>
          <p:nvPr/>
        </p:nvSpPr>
        <p:spPr>
          <a:xfrm>
            <a:off x="493200" y="4065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Linear and Lasso perform almost identically and best overall. Ridge underperformed — likely due to inconsistent feature scaling, a known and fixable limitation.</a:t>
            </a:r>
            <a:endParaRPr lang="en-US" sz="1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40E6DB6-384F-2E35-E013-80EC3CD18EB5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BE2BA72F-6A4C-2850-F783-980D230745B8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it actually predict?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3" name="Image 0" descr="Actual vs predicted monthly sal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114800" cy="21773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543003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values track the overall trend closely across the test months.</a:t>
            </a:r>
            <a:endParaRPr lang="en-US" sz="1400" dirty="0"/>
          </a:p>
        </p:txBody>
      </p:sp>
      <p:pic>
        <p:nvPicPr>
          <p:cNvPr id="5" name="Image 1" descr="Residual plo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9920" y="1188720"/>
            <a:ext cx="4114800" cy="28936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34240" y="4183083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Residuals center near zero with no strong pattern, though a few peak months see larger error.</a:t>
            </a:r>
            <a:endParaRPr lang="en-US" sz="1400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EA9617-585B-58F0-7E26-4954041E0B87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7">
            <a:extLst>
              <a:ext uri="{FF2B5EF4-FFF2-40B4-BE49-F238E27FC236}">
                <a16:creationId xmlns:a16="http://schemas.microsoft.com/office/drawing/2014/main" id="{4E2EC5D4-C39C-33C8-8F76-C4D68092C60D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7EA87-8509-1851-E36B-A3919CD5D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A5977EF-71E3-9068-FC53-2E1E9FB5F003}"/>
              </a:ext>
            </a:extLst>
          </p:cNvPr>
          <p:cNvSpPr/>
          <p:nvPr/>
        </p:nvSpPr>
        <p:spPr>
          <a:xfrm>
            <a:off x="457200" y="3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accent5">
                    <a:lumMod val="50000"/>
                  </a:schemeClr>
                </a:solidFill>
              </a:rPr>
              <a:t>What everybody should know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CC7E7D-FA23-CE0C-BF1C-C71146DC9005}"/>
              </a:ext>
            </a:extLst>
          </p:cNvPr>
          <p:cNvSpPr/>
          <p:nvPr/>
        </p:nvSpPr>
        <p:spPr>
          <a:xfrm>
            <a:off x="457200" y="1356480"/>
            <a:ext cx="8229600" cy="2337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Long-term upward sales trends across the 4 year period.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Strong, repeatable monthly seasonality – certain months(Sept, Nov, Dec).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gives a reasonable revenue estimate for budgeting and inventory planning.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Increase inventory ahead of historically strong months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Use monthly forecasting as a budgeting input, not a hard guarantee</a:t>
            </a:r>
            <a:endParaRPr lang="en-US" sz="140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82C5213-E753-8743-44E3-7B025253A33A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14E33A0-DA72-1F7D-1E58-7279D0D90B57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9724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0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the business</a:t>
            </a:r>
            <a:endParaRPr lang="en-US" sz="2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2014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156" y="1591056"/>
            <a:ext cx="292608" cy="292608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6" name="Text 3"/>
          <p:cNvSpPr/>
          <p:nvPr/>
        </p:nvSpPr>
        <p:spPr>
          <a:xfrm>
            <a:off x="566928" y="219456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growth</a:t>
            </a:r>
            <a:endParaRPr lang="en-US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594360" y="26974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grew every year from 2014 to 2017.</a:t>
            </a:r>
            <a:endParaRPr lang="en-US" sz="1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2514600" y="118872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17754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556" y="1591056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24328" y="219456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seasonality</a:t>
            </a:r>
            <a:endParaRPr lang="en-US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2651760" y="26974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Sept, Nov, and Dec consistently outperform.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0" y="118872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23494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2956" y="1591056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81728" y="219456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smarter</a:t>
            </a:r>
            <a:endParaRPr lang="en-US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7" name="Text 12"/>
          <p:cNvSpPr/>
          <p:nvPr/>
        </p:nvSpPr>
        <p:spPr>
          <a:xfrm>
            <a:off x="4709160" y="26974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inventory ahead of historically strong months.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629400" y="1188720"/>
            <a:ext cx="1874520" cy="3017520"/>
          </a:xfrm>
          <a:prstGeom prst="roundRect">
            <a:avLst>
              <a:gd name="adj" fmla="val 3902"/>
            </a:avLst>
          </a:prstGeom>
          <a:solidFill>
            <a:srgbClr val="EAF0FB"/>
          </a:solidFill>
          <a:ln/>
          <a:effectLst>
            <a:outerShdw blurRad="101600" dist="38100" dir="27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292340" y="146304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356" y="159105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739128" y="2194560"/>
            <a:ext cx="1655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 a planning input</a:t>
            </a:r>
            <a:endParaRPr lang="en-US" sz="13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22" name="Text 16"/>
          <p:cNvSpPr/>
          <p:nvPr/>
        </p:nvSpPr>
        <p:spPr>
          <a:xfrm>
            <a:off x="6766560" y="26974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Treat forecasts as budgeting guidance, not a guarantee.</a:t>
            </a:r>
            <a:endParaRPr lang="en-US" sz="110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C8AD1D-98AB-C6FB-1BA3-EAB54364C819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5" name="Footer Placeholder 7">
            <a:extLst>
              <a:ext uri="{FF2B5EF4-FFF2-40B4-BE49-F238E27FC236}">
                <a16:creationId xmlns:a16="http://schemas.microsoft.com/office/drawing/2014/main" id="{2897200A-F5FA-8677-FB2F-7F387DD08186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Test set is only 9 months — results carry real variance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Model underestimates extreme monthly spikes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84632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4846320" y="15544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Add promotions, holidays, and marketing spend as features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Compare against SARIMA or Prophet for seasonality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4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Text 6">
            <a:hlinkClick r:id="rId3"/>
          </p:cNvPr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GitHub: github.com/OfficialSamarthsingh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Text 7">
            <a:hlinkClick r:id="rId4"/>
          </p:cNvPr>
          <p:cNvSpPr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LinkedIn: linkedin.com/in/samarth-singh-062371215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10" name="Text 8">
            <a:hlinkClick r:id="rId5"/>
          </p:cNvPr>
          <p:cNvSpPr/>
          <p:nvPr/>
        </p:nvSpPr>
        <p:spPr>
          <a:xfrm>
            <a:off x="457200" y="44256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u="sng" dirty="0">
                <a:solidFill>
                  <a:schemeClr val="accent5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Portfolio: samarthsinghportfolio.netlify.app</a:t>
            </a:r>
            <a:endParaRPr lang="en-US" sz="1100" dirty="0">
              <a:solidFill>
                <a:schemeClr val="accent5">
                  <a:lumMod val="75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9049563-E999-B580-4EC8-321AFCEF7B02}"/>
              </a:ext>
            </a:extLst>
          </p:cNvPr>
          <p:cNvCxnSpPr>
            <a:cxnSpLocks/>
          </p:cNvCxnSpPr>
          <p:nvPr/>
        </p:nvCxnSpPr>
        <p:spPr>
          <a:xfrm flipV="1">
            <a:off x="0" y="928296"/>
            <a:ext cx="9144000" cy="352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BBBC7584-373B-2D79-EA9C-F5547ED345A9}"/>
              </a:ext>
            </a:extLst>
          </p:cNvPr>
          <p:cNvSpPr/>
          <p:nvPr/>
        </p:nvSpPr>
        <p:spPr>
          <a:xfrm>
            <a:off x="212400" y="4055364"/>
            <a:ext cx="993600" cy="871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0629D8-06E6-8279-B23B-BC4F7E2E279C}"/>
              </a:ext>
            </a:extLst>
          </p:cNvPr>
          <p:cNvSpPr/>
          <p:nvPr/>
        </p:nvSpPr>
        <p:spPr>
          <a:xfrm>
            <a:off x="3600" y="4270248"/>
            <a:ext cx="993600" cy="871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0A0B42E-73E2-3F56-CC0B-79745D8C933A}"/>
              </a:ext>
            </a:extLst>
          </p:cNvPr>
          <p:cNvSpPr/>
          <p:nvPr/>
        </p:nvSpPr>
        <p:spPr>
          <a:xfrm>
            <a:off x="7938000" y="4058568"/>
            <a:ext cx="993600" cy="87120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8D2F97-80DA-D6FE-CB0F-3ACCDB211CB1}"/>
              </a:ext>
            </a:extLst>
          </p:cNvPr>
          <p:cNvSpPr/>
          <p:nvPr/>
        </p:nvSpPr>
        <p:spPr>
          <a:xfrm>
            <a:off x="8150400" y="4276080"/>
            <a:ext cx="993600" cy="871200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7">
            <a:extLst>
              <a:ext uri="{FF2B5EF4-FFF2-40B4-BE49-F238E27FC236}">
                <a16:creationId xmlns:a16="http://schemas.microsoft.com/office/drawing/2014/main" id="{C29DB460-46F6-BAE0-A1DA-4EB9FB5C5915}"/>
              </a:ext>
            </a:extLst>
          </p:cNvPr>
          <p:cNvSpPr txBox="1">
            <a:spLocks/>
          </p:cNvSpPr>
          <p:nvPr/>
        </p:nvSpPr>
        <p:spPr>
          <a:xfrm>
            <a:off x="397800" y="4772052"/>
            <a:ext cx="3590945" cy="252152"/>
          </a:xfrm>
          <a:prstGeom prst="rect">
            <a:avLst/>
          </a:prstGeom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Forecasting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9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784</Words>
  <Application>Microsoft Office PowerPoint</Application>
  <PresentationFormat>On-screen Show (16:9)</PresentationFormat>
  <Paragraphs>129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Sales Forecasting Using Machine Learning</dc:title>
  <dc:subject>PptxGenJS Presentation</dc:subject>
  <dc:creator>Samarth Singh</dc:creator>
  <cp:lastModifiedBy>SAHIL SINGH</cp:lastModifiedBy>
  <cp:revision>4</cp:revision>
  <dcterms:created xsi:type="dcterms:W3CDTF">2026-06-26T19:45:59Z</dcterms:created>
  <dcterms:modified xsi:type="dcterms:W3CDTF">2026-06-28T14:22:55Z</dcterms:modified>
</cp:coreProperties>
</file>